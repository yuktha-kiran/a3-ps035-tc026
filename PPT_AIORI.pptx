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57" d="100"/>
          <a:sy n="157" d="100"/>
        </p:scale>
        <p:origin x="328" y="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265488" y="0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8108F7-623D-4E50-B172-CF9227C7B80F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911350" y="406400"/>
            <a:ext cx="1943100" cy="10937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082925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265488" y="3082925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E9EBBF-C494-4E0B-BF23-A4F7588BA2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4317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0000DC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000DC"/>
                </a:solidFill>
                <a:latin typeface="Century Gothic"/>
                <a:cs typeface="Century Gothic"/>
              </a:defRPr>
            </a:lvl1pPr>
          </a:lstStyle>
          <a:p>
            <a:pPr marL="1778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/>
              <a:t>‹#›</a:t>
            </a:fld>
            <a:r>
              <a:rPr spc="5" dirty="0"/>
              <a:t> </a:t>
            </a:r>
            <a:r>
              <a:rPr dirty="0"/>
              <a:t>/</a:t>
            </a:r>
            <a:r>
              <a:rPr spc="10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00DC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000DC"/>
                </a:solidFill>
                <a:latin typeface="Century Gothic"/>
                <a:cs typeface="Century Gothic"/>
              </a:defRPr>
            </a:lvl1pPr>
          </a:lstStyle>
          <a:p>
            <a:pPr marL="1778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/>
              <a:t>‹#›</a:t>
            </a:fld>
            <a:r>
              <a:rPr spc="5" dirty="0"/>
              <a:t> </a:t>
            </a:r>
            <a:r>
              <a:rPr dirty="0"/>
              <a:t>/</a:t>
            </a:r>
            <a:r>
              <a:rPr spc="10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00DC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000DC"/>
                </a:solidFill>
                <a:latin typeface="Century Gothic"/>
                <a:cs typeface="Century Gothic"/>
              </a:defRPr>
            </a:lvl1pPr>
          </a:lstStyle>
          <a:p>
            <a:pPr marL="1778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/>
              <a:t>‹#›</a:t>
            </a:fld>
            <a:r>
              <a:rPr spc="5" dirty="0"/>
              <a:t> </a:t>
            </a:r>
            <a:r>
              <a:rPr dirty="0"/>
              <a:t>/</a:t>
            </a:r>
            <a:r>
              <a:rPr spc="10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00DC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000DC"/>
                </a:solidFill>
                <a:latin typeface="Century Gothic"/>
                <a:cs typeface="Century Gothic"/>
              </a:defRPr>
            </a:lvl1pPr>
          </a:lstStyle>
          <a:p>
            <a:pPr marL="1778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/>
              <a:t>‹#›</a:t>
            </a:fld>
            <a:r>
              <a:rPr spc="5" dirty="0"/>
              <a:t> </a:t>
            </a:r>
            <a:r>
              <a:rPr dirty="0"/>
              <a:t>/</a:t>
            </a:r>
            <a:r>
              <a:rPr spc="10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000DC"/>
                </a:solidFill>
                <a:latin typeface="Century Gothic"/>
                <a:cs typeface="Century Gothic"/>
              </a:defRPr>
            </a:lvl1pPr>
          </a:lstStyle>
          <a:p>
            <a:pPr marL="1778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/>
              <a:t>‹#›</a:t>
            </a:fld>
            <a:r>
              <a:rPr spc="5" dirty="0"/>
              <a:t> </a:t>
            </a:r>
            <a:r>
              <a:rPr dirty="0"/>
              <a:t>/</a:t>
            </a:r>
            <a:r>
              <a:rPr spc="10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9293" y="198244"/>
            <a:ext cx="111506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0000DC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9293" y="596822"/>
            <a:ext cx="5273675" cy="765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234978" y="3092784"/>
            <a:ext cx="400050" cy="1206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0000DC"/>
                </a:solidFill>
                <a:latin typeface="Century Gothic"/>
                <a:cs typeface="Century Gothic"/>
              </a:defRPr>
            </a:lvl1pPr>
          </a:lstStyle>
          <a:p>
            <a:pPr marL="1778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/>
              <a:t>‹#›</a:t>
            </a:fld>
            <a:r>
              <a:rPr spc="5" dirty="0"/>
              <a:t> </a:t>
            </a:r>
            <a:r>
              <a:rPr dirty="0"/>
              <a:t>/</a:t>
            </a:r>
            <a:r>
              <a:rPr spc="10" dirty="0"/>
              <a:t> </a:t>
            </a:r>
            <a:r>
              <a:rPr spc="-25" dirty="0"/>
              <a:t>11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.png"/><Relationship Id="rId4" Type="http://schemas.openxmlformats.org/officeDocument/2006/relationships/slide" Target="slid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slide" Target="slid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iki.ietf.org/en/meeting/126/hackathon" TargetMode="External"/><Relationship Id="rId7" Type="http://schemas.openxmlformats.org/officeDocument/2006/relationships/slide" Target="slide1.xml"/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rfc-editor.org/rfc/rfc8639" TargetMode="External"/><Relationship Id="rId5" Type="http://schemas.openxmlformats.org/officeDocument/2006/relationships/hyperlink" Target="https://www.rfc-editor.org/rfc/rfc2680" TargetMode="External"/><Relationship Id="rId4" Type="http://schemas.openxmlformats.org/officeDocument/2006/relationships/hyperlink" Target="https://www.rfc-editor.org/rfc/rfc5424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993" y="252004"/>
            <a:ext cx="508223" cy="50398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39293" y="1200733"/>
            <a:ext cx="4429125" cy="73674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lang="en-IN" sz="2600" dirty="0"/>
              <a:t>A3-PS035-TC026</a:t>
            </a:r>
            <a:endParaRPr sz="2600" dirty="0"/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lang="en-IN" sz="1200" dirty="0">
                <a:solidFill>
                  <a:schemeClr val="tx1"/>
                </a:solidFill>
              </a:rPr>
              <a:t>Evidence-Based Operator Network Fault Localisation</a:t>
            </a:r>
            <a:endParaRPr sz="1200" dirty="0">
              <a:solidFill>
                <a:schemeClr val="tx1"/>
              </a:solidFill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1993" y="2050972"/>
            <a:ext cx="3786607" cy="930382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lang="en-IN" sz="750" b="1" dirty="0">
                <a:latin typeface="Century Gothic"/>
                <a:cs typeface="Century Gothic"/>
              </a:rPr>
              <a:t>PL Shwetha Uma- pl.shwetha@btech.chrisuniversity.in</a:t>
            </a: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lang="en-IN" sz="750" b="1" dirty="0">
                <a:latin typeface="Century Gothic"/>
                <a:cs typeface="Century Gothic"/>
              </a:rPr>
              <a:t>Yuktha Kiran V- yuktha.kiran@btech.christuniversity.in</a:t>
            </a: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lang="en-IN" sz="750" b="1" dirty="0">
                <a:latin typeface="Century Gothic"/>
                <a:cs typeface="Century Gothic"/>
              </a:rPr>
              <a:t>Neethu Mariam (Mentor)- neethu.mariam@christuniversity.in</a:t>
            </a:r>
            <a:endParaRPr sz="75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750" dirty="0">
                <a:latin typeface="Century Gothic"/>
                <a:cs typeface="Century Gothic"/>
              </a:rPr>
              <a:t>AIORI Hackathon 3</a:t>
            </a: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750" dirty="0">
                <a:latin typeface="Century Gothic"/>
                <a:cs typeface="Century Gothic"/>
              </a:rPr>
              <a:t>October </a:t>
            </a:r>
            <a:r>
              <a:rPr lang="en-IN" sz="750" dirty="0">
                <a:latin typeface="Century Gothic"/>
                <a:cs typeface="Century Gothic"/>
              </a:rPr>
              <a:t>12</a:t>
            </a:r>
            <a:r>
              <a:rPr sz="750" dirty="0">
                <a:latin typeface="Century Gothic"/>
                <a:cs typeface="Century Gothic"/>
              </a:rPr>
              <a:t>, 2026</a:t>
            </a: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08224" y="16997"/>
            <a:ext cx="3048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dirty="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AIORI</a:t>
            </a:r>
            <a:r>
              <a:rPr sz="600" b="1" spc="40" dirty="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 </a:t>
            </a:r>
            <a:r>
              <a:rPr sz="600" b="1" spc="-50" dirty="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3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7016" y="16997"/>
            <a:ext cx="3333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10" dirty="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Abstract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93" y="198244"/>
            <a:ext cx="161036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-80" dirty="0">
                <a:solidFill>
                  <a:srgbClr val="0000DC"/>
                </a:solidFill>
                <a:latin typeface="Century Gothic"/>
                <a:cs typeface="Century Gothic"/>
              </a:rPr>
              <a:t>Problem</a:t>
            </a:r>
            <a:r>
              <a:rPr sz="1400" b="1" spc="3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1400" b="1" spc="-55" dirty="0">
                <a:solidFill>
                  <a:srgbClr val="0000DC"/>
                </a:solidFill>
                <a:latin typeface="Century Gothic"/>
                <a:cs typeface="Century Gothic"/>
              </a:rPr>
              <a:t>Description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0035" y="685630"/>
            <a:ext cx="5205730" cy="204286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r>
              <a:rPr lang="en-IN" sz="1100" b="1" dirty="0">
                <a:latin typeface="Century Gothic" panose="020B0502020202090204" pitchFamily="34" charset="0"/>
              </a:rPr>
              <a:t>Problem Statement</a:t>
            </a:r>
          </a:p>
          <a:p>
            <a:r>
              <a:rPr lang="en-IN" sz="1100" dirty="0">
                <a:latin typeface="Century Gothic" panose="020B0502020202090204" pitchFamily="34" charset="0"/>
              </a:rPr>
              <a:t>Network failures can arise from link failures, packet loss, excessive latency, access-control blocks and application service failures. These faults can produce similar symptoms, making it difficult for network operators to identify the actual root cause.</a:t>
            </a:r>
          </a:p>
          <a:p>
            <a:r>
              <a:rPr lang="en-IN" sz="1100" dirty="0">
                <a:latin typeface="Century Gothic" panose="020B0502020202090204" pitchFamily="34" charset="0"/>
              </a:rPr>
              <a:t>Network topology, operator logs and active measurements often need to be analysed together to distinguish the underlying fault from its downstream symptoms.</a:t>
            </a:r>
          </a:p>
          <a:p>
            <a:endParaRPr lang="en-IN" sz="1100" dirty="0">
              <a:latin typeface="Century Gothic" panose="020B0502020202090204" pitchFamily="34" charset="0"/>
            </a:endParaRPr>
          </a:p>
          <a:p>
            <a:r>
              <a:rPr lang="en-IN" sz="1100" b="1" dirty="0">
                <a:latin typeface="Century Gothic" panose="020B0502020202090204" pitchFamily="34" charset="0"/>
              </a:rPr>
              <a:t>Problem to address:</a:t>
            </a:r>
            <a:r>
              <a:rPr lang="en-IN" sz="1100" dirty="0">
                <a:latin typeface="Century Gothic" panose="020B0502020202090204" pitchFamily="34" charset="0"/>
              </a:rPr>
              <a:t> How can multiple sources of network evidence be correlated to identify, rank and explain the most probable causes of a network failure?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92100" y="3050083"/>
            <a:ext cx="1805407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15"/>
              </a:lnSpc>
            </a:pPr>
            <a:r>
              <a:rPr sz="2100" i="1" spc="-202" baseline="-7936" dirty="0">
                <a:solidFill>
                  <a:srgbClr val="0000DC"/>
                </a:solidFill>
                <a:latin typeface="Arial Narrow"/>
                <a:cs typeface="Arial Narrow"/>
              </a:rPr>
              <a:t> </a:t>
            </a:r>
            <a:r>
              <a:rPr lang="en-IN" sz="600" b="1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A3-PS035-TC026</a:t>
            </a:r>
            <a:r>
              <a:rPr sz="600" b="1" spc="1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2100" i="1" baseline="-7936" dirty="0">
                <a:solidFill>
                  <a:srgbClr val="0000DC"/>
                </a:solidFill>
                <a:latin typeface="Arial Narrow"/>
                <a:cs typeface="Arial Narrow"/>
              </a:rPr>
              <a:t>·</a:t>
            </a:r>
            <a:r>
              <a:rPr sz="2100" i="1" spc="-202" baseline="-7936" dirty="0">
                <a:solidFill>
                  <a:srgbClr val="0000DC"/>
                </a:solidFill>
                <a:latin typeface="Arial Narrow"/>
                <a:cs typeface="Arial Narrow"/>
              </a:rPr>
              <a:t> </a:t>
            </a:r>
            <a:r>
              <a:rPr sz="600" spc="-20" dirty="0">
                <a:solidFill>
                  <a:srgbClr val="0000DC"/>
                </a:solidFill>
                <a:latin typeface="Century Gothic"/>
                <a:cs typeface="Century Gothic"/>
              </a:rPr>
              <a:t>October</a:t>
            </a:r>
            <a:r>
              <a:rPr sz="600" spc="1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lang="en-IN" sz="600" spc="10" dirty="0">
                <a:solidFill>
                  <a:srgbClr val="0000DC"/>
                </a:solidFill>
                <a:latin typeface="Century Gothic"/>
                <a:cs typeface="Century Gothic"/>
              </a:rPr>
              <a:t>12</a:t>
            </a:r>
            <a:r>
              <a:rPr sz="600" dirty="0">
                <a:solidFill>
                  <a:srgbClr val="0000DC"/>
                </a:solidFill>
                <a:latin typeface="Century Gothic"/>
                <a:cs typeface="Century Gothic"/>
              </a:rPr>
              <a:t>,</a:t>
            </a:r>
            <a:r>
              <a:rPr sz="600" spc="1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600" spc="-20" dirty="0">
                <a:solidFill>
                  <a:srgbClr val="0000DC"/>
                </a:solidFill>
                <a:latin typeface="Century Gothic"/>
                <a:cs typeface="Century Gothic"/>
              </a:rPr>
              <a:t>2026</a:t>
            </a:r>
            <a:endParaRPr sz="600" dirty="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/>
              <a:t>2</a:t>
            </a:fld>
            <a:r>
              <a:rPr spc="5" dirty="0"/>
              <a:t> </a:t>
            </a:r>
            <a:r>
              <a:rPr dirty="0"/>
              <a:t>/</a:t>
            </a:r>
            <a:r>
              <a:rPr spc="10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08224" y="16997"/>
            <a:ext cx="3048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dirty="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AIORI</a:t>
            </a:r>
            <a:r>
              <a:rPr sz="600" b="1" spc="40" dirty="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 </a:t>
            </a:r>
            <a:r>
              <a:rPr sz="600" b="1" spc="-50" dirty="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3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7016" y="16997"/>
            <a:ext cx="467359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10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Background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93" y="198244"/>
            <a:ext cx="94488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-110" dirty="0">
                <a:solidFill>
                  <a:srgbClr val="0000DC"/>
                </a:solidFill>
                <a:latin typeface="Century Gothic"/>
                <a:cs typeface="Century Gothic"/>
              </a:rPr>
              <a:t>Background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2252" y="603235"/>
            <a:ext cx="5281295" cy="186910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r>
              <a:rPr lang="en-IN" sz="1100" dirty="0">
                <a:latin typeface="Century Gothic" panose="020B0502020202090204" pitchFamily="34" charset="0"/>
              </a:rPr>
              <a:t>Network fault localisation identifies the device, link or service responsible for a network failure.</a:t>
            </a:r>
          </a:p>
          <a:p>
            <a:endParaRPr lang="en-IN" sz="1100" dirty="0">
              <a:latin typeface="Century Gothic" panose="020B0502020202090204" pitchFamily="34" charset="0"/>
            </a:endParaRPr>
          </a:p>
          <a:p>
            <a:r>
              <a:rPr lang="en-IN" sz="1100" b="1" dirty="0">
                <a:latin typeface="Century Gothic" panose="020B0502020202090204" pitchFamily="34" charset="0"/>
              </a:rPr>
              <a:t>Diagnostic evidence:</a:t>
            </a:r>
            <a:endParaRPr lang="en-IN" sz="1100" dirty="0">
              <a:latin typeface="Century Gothic" panose="020B0502020202090204" pitchFamily="34" charset="0"/>
            </a:endParaRPr>
          </a:p>
          <a:p>
            <a:pPr lvl="0"/>
            <a:r>
              <a:rPr lang="en-IN" sz="1100" b="1" dirty="0">
                <a:latin typeface="Century Gothic" panose="020B0502020202090204" pitchFamily="34" charset="0"/>
              </a:rPr>
              <a:t>Topology:</a:t>
            </a:r>
            <a:r>
              <a:rPr lang="en-IN" sz="1100" dirty="0">
                <a:latin typeface="Century Gothic" panose="020B0502020202090204" pitchFamily="34" charset="0"/>
              </a:rPr>
              <a:t> Network nodes, links and paths.</a:t>
            </a:r>
          </a:p>
          <a:p>
            <a:pPr lvl="0"/>
            <a:r>
              <a:rPr lang="en-IN" sz="1100" b="1" dirty="0">
                <a:latin typeface="Century Gothic" panose="020B0502020202090204" pitchFamily="34" charset="0"/>
              </a:rPr>
              <a:t>Logs:</a:t>
            </a:r>
            <a:r>
              <a:rPr lang="en-IN" sz="1100" dirty="0">
                <a:latin typeface="Century Gothic" panose="020B0502020202090204" pitchFamily="34" charset="0"/>
              </a:rPr>
              <a:t> Interface errors, firewall blocks and service events.</a:t>
            </a:r>
          </a:p>
          <a:p>
            <a:pPr lvl="0"/>
            <a:r>
              <a:rPr lang="en-IN" sz="1100" b="1" dirty="0">
                <a:latin typeface="Century Gothic" panose="020B0502020202090204" pitchFamily="34" charset="0"/>
              </a:rPr>
              <a:t>Measurements:</a:t>
            </a:r>
            <a:r>
              <a:rPr lang="en-IN" sz="1100" dirty="0">
                <a:latin typeface="Century Gothic" panose="020B0502020202090204" pitchFamily="34" charset="0"/>
              </a:rPr>
              <a:t> Ping, TCP/HTTP connectivity, latency and packet loss.</a:t>
            </a:r>
          </a:p>
          <a:p>
            <a:pPr lvl="0"/>
            <a:endParaRPr lang="en-IN" sz="1100" dirty="0">
              <a:latin typeface="Century Gothic" panose="020B0502020202090204" pitchFamily="34" charset="0"/>
            </a:endParaRPr>
          </a:p>
          <a:p>
            <a:r>
              <a:rPr lang="en-IN" sz="1100" b="1" dirty="0">
                <a:latin typeface="Century Gothic" panose="020B0502020202090204" pitchFamily="34" charset="0"/>
              </a:rPr>
              <a:t>Proposed optimisation:</a:t>
            </a:r>
            <a:r>
              <a:rPr lang="en-IN" sz="1100" dirty="0">
                <a:latin typeface="Century Gothic" panose="020B0502020202090204" pitchFamily="34" charset="0"/>
              </a:rPr>
              <a:t> Correlate these sources to narrow down fault locations, improve diagnosis and identify incomplete or contradictory evidence.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39293" y="3050083"/>
            <a:ext cx="1608455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15"/>
              </a:lnSpc>
            </a:pPr>
            <a:r>
              <a:rPr lang="en-IN" sz="2100" i="1" spc="-202" baseline="-7936" dirty="0">
                <a:solidFill>
                  <a:srgbClr val="0000DC"/>
                </a:solidFill>
                <a:latin typeface="Arial Narrow"/>
                <a:cs typeface="Arial Narrow"/>
              </a:rPr>
              <a:t> </a:t>
            </a:r>
            <a:r>
              <a:rPr lang="en-IN" sz="600" b="1" dirty="0">
                <a:solidFill>
                  <a:srgbClr val="0000DC"/>
                </a:solidFill>
                <a:latin typeface="Century Gothic"/>
                <a:cs typeface="Century Gothic"/>
                <a:hlinkClick r:id="rId4" action="ppaction://hlinksldjump"/>
              </a:rPr>
              <a:t>A3-PS035-TC026</a:t>
            </a:r>
            <a:r>
              <a:rPr lang="en-IN" sz="600" b="1" spc="1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lang="en-IN" sz="2100" i="1" baseline="-7936" dirty="0">
                <a:solidFill>
                  <a:srgbClr val="0000DC"/>
                </a:solidFill>
                <a:latin typeface="Arial Narrow"/>
                <a:cs typeface="Arial Narrow"/>
              </a:rPr>
              <a:t>·</a:t>
            </a:r>
            <a:r>
              <a:rPr lang="en-IN" sz="2100" i="1" spc="-202" baseline="-7936" dirty="0">
                <a:solidFill>
                  <a:srgbClr val="0000DC"/>
                </a:solidFill>
                <a:latin typeface="Arial Narrow"/>
                <a:cs typeface="Arial Narrow"/>
              </a:rPr>
              <a:t> </a:t>
            </a:r>
            <a:r>
              <a:rPr lang="en-IN" sz="600" spc="-20" dirty="0">
                <a:solidFill>
                  <a:srgbClr val="0000DC"/>
                </a:solidFill>
                <a:latin typeface="Century Gothic"/>
                <a:cs typeface="Century Gothic"/>
              </a:rPr>
              <a:t>October</a:t>
            </a:r>
            <a:r>
              <a:rPr lang="en-IN" sz="600" spc="10" dirty="0">
                <a:solidFill>
                  <a:srgbClr val="0000DC"/>
                </a:solidFill>
                <a:latin typeface="Century Gothic"/>
                <a:cs typeface="Century Gothic"/>
              </a:rPr>
              <a:t> 12</a:t>
            </a:r>
            <a:r>
              <a:rPr lang="en-IN" sz="600" dirty="0">
                <a:solidFill>
                  <a:srgbClr val="0000DC"/>
                </a:solidFill>
                <a:latin typeface="Century Gothic"/>
                <a:cs typeface="Century Gothic"/>
              </a:rPr>
              <a:t>,</a:t>
            </a:r>
            <a:r>
              <a:rPr lang="en-IN" sz="600" spc="1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lang="en-IN" sz="600" spc="-20" dirty="0">
                <a:solidFill>
                  <a:srgbClr val="0000DC"/>
                </a:solidFill>
                <a:latin typeface="Century Gothic"/>
                <a:cs typeface="Century Gothic"/>
              </a:rPr>
              <a:t>2026</a:t>
            </a:r>
            <a:endParaRPr lang="en-IN" sz="600" dirty="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/>
              <a:t>3</a:t>
            </a:fld>
            <a:r>
              <a:rPr spc="5" dirty="0"/>
              <a:t> </a:t>
            </a:r>
            <a:r>
              <a:rPr dirty="0"/>
              <a:t>/</a:t>
            </a:r>
            <a:r>
              <a:rPr spc="10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08224" y="16997"/>
            <a:ext cx="3048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dirty="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AIORI</a:t>
            </a:r>
            <a:r>
              <a:rPr sz="600" b="1" spc="40" dirty="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 </a:t>
            </a:r>
            <a:r>
              <a:rPr sz="600" b="1" spc="-50" dirty="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3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7016" y="16997"/>
            <a:ext cx="9271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10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Literature</a:t>
            </a:r>
            <a:r>
              <a:rPr sz="600" b="1" spc="30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 </a:t>
            </a:r>
            <a:r>
              <a:rPr sz="600" b="1" spc="114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&amp;</a:t>
            </a:r>
            <a:r>
              <a:rPr sz="600" b="1" spc="30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 </a:t>
            </a:r>
            <a:r>
              <a:rPr sz="600" b="1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RFC</a:t>
            </a:r>
            <a:r>
              <a:rPr sz="600" b="1" spc="35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 </a:t>
            </a:r>
            <a:r>
              <a:rPr sz="600" b="1" spc="-10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Review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93" y="198244"/>
            <a:ext cx="19367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-20" dirty="0">
                <a:solidFill>
                  <a:srgbClr val="0000DC"/>
                </a:solidFill>
                <a:latin typeface="Century Gothic"/>
                <a:cs typeface="Century Gothic"/>
              </a:rPr>
              <a:t>Literature</a:t>
            </a:r>
            <a:r>
              <a:rPr sz="1400" b="1" spc="-3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1400" b="1" spc="204" dirty="0">
                <a:solidFill>
                  <a:srgbClr val="0000DC"/>
                </a:solidFill>
                <a:latin typeface="Century Gothic"/>
                <a:cs typeface="Century Gothic"/>
              </a:rPr>
              <a:t>&amp;</a:t>
            </a:r>
            <a:r>
              <a:rPr sz="1400" b="1" spc="-3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1400" b="1" spc="-70" dirty="0">
                <a:solidFill>
                  <a:srgbClr val="0000DC"/>
                </a:solidFill>
                <a:latin typeface="Century Gothic"/>
                <a:cs typeface="Century Gothic"/>
              </a:rPr>
              <a:t>RFC</a:t>
            </a:r>
            <a:r>
              <a:rPr sz="1400" b="1" spc="-25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1400" b="1" spc="-80" dirty="0">
                <a:solidFill>
                  <a:srgbClr val="0000DC"/>
                </a:solidFill>
                <a:latin typeface="Century Gothic"/>
                <a:cs typeface="Century Gothic"/>
              </a:rPr>
              <a:t>Review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2066" y="631825"/>
            <a:ext cx="5161915" cy="1530547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lvl="0"/>
            <a:r>
              <a:rPr lang="en-IN" sz="1100" b="1" dirty="0">
                <a:latin typeface="Century Gothic" panose="020B0502020202090204" pitchFamily="34" charset="0"/>
              </a:rPr>
              <a:t>IETF Hackathon:</a:t>
            </a:r>
            <a:r>
              <a:rPr lang="en-IN" sz="1100" dirty="0">
                <a:latin typeface="Century Gothic" panose="020B0502020202090204" pitchFamily="34" charset="0"/>
              </a:rPr>
              <a:t> Network fault-localisation initiative exploring evidence correlation. [1]</a:t>
            </a:r>
          </a:p>
          <a:p>
            <a:pPr lvl="0"/>
            <a:endParaRPr lang="en-IN" sz="1100" dirty="0">
              <a:latin typeface="Century Gothic" panose="020B0502020202090204" pitchFamily="34" charset="0"/>
            </a:endParaRPr>
          </a:p>
          <a:p>
            <a:pPr lvl="0"/>
            <a:r>
              <a:rPr lang="en-IN" sz="1100" b="1" dirty="0">
                <a:latin typeface="Century Gothic" panose="020B0502020202090204" pitchFamily="34" charset="0"/>
              </a:rPr>
              <a:t>RFC 5424:</a:t>
            </a:r>
            <a:r>
              <a:rPr lang="en-IN" sz="1100" dirty="0">
                <a:latin typeface="Century Gothic" panose="020B0502020202090204" pitchFamily="34" charset="0"/>
              </a:rPr>
              <a:t> Standardises syslog messages for event logging. [2]</a:t>
            </a:r>
          </a:p>
          <a:p>
            <a:pPr lvl="0"/>
            <a:r>
              <a:rPr lang="en-IN" sz="1100" b="1" dirty="0">
                <a:latin typeface="Century Gothic" panose="020B0502020202090204" pitchFamily="34" charset="0"/>
              </a:rPr>
              <a:t>RFC 2680:</a:t>
            </a:r>
            <a:r>
              <a:rPr lang="en-IN" sz="1100" dirty="0">
                <a:latin typeface="Century Gothic" panose="020B0502020202090204" pitchFamily="34" charset="0"/>
              </a:rPr>
              <a:t> Defines a one-way packet-loss metric. [3]</a:t>
            </a:r>
          </a:p>
          <a:p>
            <a:pPr lvl="0"/>
            <a:r>
              <a:rPr lang="en-IN" sz="1100" b="1" dirty="0">
                <a:latin typeface="Century Gothic" panose="020B0502020202090204" pitchFamily="34" charset="0"/>
              </a:rPr>
              <a:t>RFC 8639:</a:t>
            </a:r>
            <a:r>
              <a:rPr lang="en-IN" sz="1100" dirty="0">
                <a:latin typeface="Century Gothic" panose="020B0502020202090204" pitchFamily="34" charset="0"/>
              </a:rPr>
              <a:t> Defines a framework for network notifications. [4]</a:t>
            </a:r>
          </a:p>
          <a:p>
            <a:pPr lvl="0"/>
            <a:endParaRPr lang="en-IN" sz="1100" dirty="0">
              <a:latin typeface="Century Gothic" panose="020B0502020202090204" pitchFamily="34" charset="0"/>
            </a:endParaRPr>
          </a:p>
          <a:p>
            <a:r>
              <a:rPr lang="en-IN" sz="1100" b="1" dirty="0">
                <a:latin typeface="Century Gothic" panose="020B0502020202090204" pitchFamily="34" charset="0"/>
              </a:rPr>
              <a:t>Research direction:</a:t>
            </a:r>
            <a:r>
              <a:rPr lang="en-IN" sz="1100" dirty="0">
                <a:latin typeface="Century Gothic" panose="020B0502020202090204" pitchFamily="34" charset="0"/>
              </a:rPr>
              <a:t> Combine topology-aware reasoning, machine learning and explainable fault ranking in a controlled network testbed.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39293" y="3050083"/>
            <a:ext cx="1608455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15"/>
              </a:lnSpc>
            </a:pPr>
            <a:r>
              <a:rPr lang="en-IN" sz="2100" i="1" spc="-202" baseline="-7936" dirty="0">
                <a:solidFill>
                  <a:srgbClr val="0000DC"/>
                </a:solidFill>
                <a:latin typeface="Arial Narrow"/>
                <a:cs typeface="Arial Narrow"/>
              </a:rPr>
              <a:t> </a:t>
            </a:r>
            <a:r>
              <a:rPr lang="en-IN" sz="600" b="1" dirty="0">
                <a:solidFill>
                  <a:srgbClr val="0000DC"/>
                </a:solidFill>
                <a:latin typeface="Century Gothic"/>
                <a:cs typeface="Century Gothic"/>
                <a:hlinkClick r:id="rId4" action="ppaction://hlinksldjump"/>
              </a:rPr>
              <a:t>A3-PS035-TC026</a:t>
            </a:r>
            <a:r>
              <a:rPr lang="en-IN" sz="600" b="1" spc="1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lang="en-IN" sz="2100" i="1" baseline="-7936" dirty="0">
                <a:solidFill>
                  <a:srgbClr val="0000DC"/>
                </a:solidFill>
                <a:latin typeface="Arial Narrow"/>
                <a:cs typeface="Arial Narrow"/>
              </a:rPr>
              <a:t>·</a:t>
            </a:r>
            <a:r>
              <a:rPr lang="en-IN" sz="2100" i="1" spc="-202" baseline="-7936" dirty="0">
                <a:solidFill>
                  <a:srgbClr val="0000DC"/>
                </a:solidFill>
                <a:latin typeface="Arial Narrow"/>
                <a:cs typeface="Arial Narrow"/>
              </a:rPr>
              <a:t> </a:t>
            </a:r>
            <a:r>
              <a:rPr lang="en-IN" sz="600" spc="-20" dirty="0">
                <a:solidFill>
                  <a:srgbClr val="0000DC"/>
                </a:solidFill>
                <a:latin typeface="Century Gothic"/>
                <a:cs typeface="Century Gothic"/>
              </a:rPr>
              <a:t>October</a:t>
            </a:r>
            <a:r>
              <a:rPr lang="en-IN" sz="600" spc="10" dirty="0">
                <a:solidFill>
                  <a:srgbClr val="0000DC"/>
                </a:solidFill>
                <a:latin typeface="Century Gothic"/>
                <a:cs typeface="Century Gothic"/>
              </a:rPr>
              <a:t> 12</a:t>
            </a:r>
            <a:r>
              <a:rPr lang="en-IN" sz="600" dirty="0">
                <a:solidFill>
                  <a:srgbClr val="0000DC"/>
                </a:solidFill>
                <a:latin typeface="Century Gothic"/>
                <a:cs typeface="Century Gothic"/>
              </a:rPr>
              <a:t>,</a:t>
            </a:r>
            <a:r>
              <a:rPr lang="en-IN" sz="600" spc="1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lang="en-IN" sz="600" spc="-20" dirty="0">
                <a:solidFill>
                  <a:srgbClr val="0000DC"/>
                </a:solidFill>
                <a:latin typeface="Century Gothic"/>
                <a:cs typeface="Century Gothic"/>
              </a:rPr>
              <a:t>2026</a:t>
            </a:r>
            <a:endParaRPr lang="en-IN" sz="600" dirty="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/>
              <a:t>4</a:t>
            </a:fld>
            <a:r>
              <a:rPr spc="5" dirty="0"/>
              <a:t> </a:t>
            </a:r>
            <a:r>
              <a:rPr dirty="0"/>
              <a:t>/</a:t>
            </a:r>
            <a:r>
              <a:rPr spc="10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08224" y="16997"/>
            <a:ext cx="3048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dirty="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AIORI</a:t>
            </a:r>
            <a:r>
              <a:rPr sz="600" b="1" spc="40" dirty="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 </a:t>
            </a:r>
            <a:r>
              <a:rPr sz="600" b="1" spc="-50" dirty="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3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7016" y="16997"/>
            <a:ext cx="7067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10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Proposed</a:t>
            </a:r>
            <a:r>
              <a:rPr sz="600" b="1" spc="35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 </a:t>
            </a:r>
            <a:r>
              <a:rPr sz="600" b="1" spc="-10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Solution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93" y="198244"/>
            <a:ext cx="145224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-100" dirty="0">
                <a:solidFill>
                  <a:srgbClr val="0000DC"/>
                </a:solidFill>
                <a:latin typeface="Century Gothic"/>
                <a:cs typeface="Century Gothic"/>
              </a:rPr>
              <a:t>Proposed</a:t>
            </a:r>
            <a:r>
              <a:rPr sz="1400" b="1" spc="25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1400" b="1" spc="-10" dirty="0">
                <a:solidFill>
                  <a:srgbClr val="0000DC"/>
                </a:solidFill>
                <a:latin typeface="Century Gothic"/>
                <a:cs typeface="Century Gothic"/>
              </a:rPr>
              <a:t>Solution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9293" y="526686"/>
            <a:ext cx="4777207" cy="251992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  <a:latin typeface="Century Gothic" panose="020B0502020202090204" pitchFamily="34" charset="0"/>
              </a:rPr>
              <a:t>TRACE</a:t>
            </a:r>
          </a:p>
          <a:p>
            <a:endParaRPr lang="en-IN" sz="1100" b="1" dirty="0">
              <a:solidFill>
                <a:schemeClr val="tx2"/>
              </a:solidFill>
              <a:latin typeface="Century Gothic" panose="020B0502020202090204" pitchFamily="34" charset="0"/>
            </a:endParaRPr>
          </a:p>
          <a:p>
            <a:r>
              <a:rPr lang="en-IN" sz="1100" dirty="0">
                <a:latin typeface="Century Gothic" panose="020B0502020202090204" pitchFamily="34" charset="0"/>
              </a:rPr>
              <a:t>TRACE correlates topology, network logs and active measurements to identify probable network faults.</a:t>
            </a:r>
          </a:p>
          <a:p>
            <a:endParaRPr lang="en-IN" sz="1100" dirty="0">
              <a:latin typeface="Century Gothic" panose="020B0502020202090204" pitchFamily="34" charset="0"/>
            </a:endParaRPr>
          </a:p>
          <a:p>
            <a:r>
              <a:rPr lang="en-IN" sz="1100" b="1" dirty="0">
                <a:latin typeface="Century Gothic" panose="020B0502020202090204" pitchFamily="34" charset="0"/>
              </a:rPr>
              <a:t>Workflow:</a:t>
            </a:r>
            <a:endParaRPr lang="en-IN" sz="1100" dirty="0">
              <a:latin typeface="Century Gothic" panose="020B0502020202090204" pitchFamily="3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100" dirty="0">
                <a:latin typeface="Century Gothic" panose="020B0502020202090204" pitchFamily="34" charset="0"/>
              </a:rPr>
              <a:t>Simulate five fault scenarios in a five-node network.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100" dirty="0">
                <a:latin typeface="Century Gothic" panose="020B0502020202090204" pitchFamily="34" charset="0"/>
              </a:rPr>
              <a:t>Collect and clean diagnostic data.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100" dirty="0">
                <a:latin typeface="Century Gothic" panose="020B0502020202090204" pitchFamily="34" charset="0"/>
              </a:rPr>
              <a:t>Extract and correlate relevant features.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100" dirty="0">
                <a:latin typeface="Century Gothic" panose="020B0502020202090204" pitchFamily="34" charset="0"/>
              </a:rPr>
              <a:t>Classify faults using Random Forest.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100" dirty="0">
                <a:latin typeface="Century Gothic" panose="020B0502020202090204" pitchFamily="34" charset="0"/>
              </a:rPr>
              <a:t>Apply topology-aware analysis to rank fault hypotheses.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100" dirty="0">
                <a:latin typeface="Century Gothic" panose="020B0502020202090204" pitchFamily="34" charset="0"/>
              </a:rPr>
              <a:t>Display explanations and confidence estimates in a dashboard.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1100" dirty="0">
              <a:latin typeface="Century Gothic" panose="020B0502020202090204" pitchFamily="34" charset="0"/>
            </a:endParaRPr>
          </a:p>
          <a:p>
            <a:r>
              <a:rPr lang="en-IN" sz="1100" b="1" dirty="0">
                <a:latin typeface="Century Gothic" panose="020B0502020202090204" pitchFamily="34" charset="0"/>
              </a:rPr>
              <a:t>Purpose:</a:t>
            </a:r>
            <a:r>
              <a:rPr lang="en-IN" sz="1100" dirty="0">
                <a:latin typeface="Century Gothic" panose="020B0502020202090204" pitchFamily="34" charset="0"/>
              </a:rPr>
              <a:t> Support operator decisions without automatic remediation.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39293" y="3050083"/>
            <a:ext cx="1608455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15"/>
              </a:lnSpc>
            </a:pPr>
            <a:r>
              <a:rPr lang="en-IN" sz="2100" i="1" spc="-202" baseline="-7936" dirty="0">
                <a:solidFill>
                  <a:srgbClr val="0000DC"/>
                </a:solidFill>
                <a:latin typeface="Arial Narrow"/>
                <a:cs typeface="Arial Narrow"/>
              </a:rPr>
              <a:t> </a:t>
            </a:r>
            <a:r>
              <a:rPr lang="en-IN" sz="600" b="1" dirty="0">
                <a:solidFill>
                  <a:srgbClr val="0000DC"/>
                </a:solidFill>
                <a:latin typeface="Century Gothic"/>
                <a:cs typeface="Century Gothic"/>
                <a:hlinkClick r:id="rId4" action="ppaction://hlinksldjump"/>
              </a:rPr>
              <a:t>A3-PS035-TC026</a:t>
            </a:r>
            <a:r>
              <a:rPr lang="en-IN" sz="600" b="1" spc="1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lang="en-IN" sz="2100" i="1" baseline="-7936" dirty="0">
                <a:solidFill>
                  <a:srgbClr val="0000DC"/>
                </a:solidFill>
                <a:latin typeface="Arial Narrow"/>
                <a:cs typeface="Arial Narrow"/>
              </a:rPr>
              <a:t>·</a:t>
            </a:r>
            <a:r>
              <a:rPr lang="en-IN" sz="2100" i="1" spc="-202" baseline="-7936" dirty="0">
                <a:solidFill>
                  <a:srgbClr val="0000DC"/>
                </a:solidFill>
                <a:latin typeface="Arial Narrow"/>
                <a:cs typeface="Arial Narrow"/>
              </a:rPr>
              <a:t> </a:t>
            </a:r>
            <a:r>
              <a:rPr lang="en-IN" sz="600" spc="-20" dirty="0">
                <a:solidFill>
                  <a:srgbClr val="0000DC"/>
                </a:solidFill>
                <a:latin typeface="Century Gothic"/>
                <a:cs typeface="Century Gothic"/>
              </a:rPr>
              <a:t>October</a:t>
            </a:r>
            <a:r>
              <a:rPr lang="en-IN" sz="600" spc="10" dirty="0">
                <a:solidFill>
                  <a:srgbClr val="0000DC"/>
                </a:solidFill>
                <a:latin typeface="Century Gothic"/>
                <a:cs typeface="Century Gothic"/>
              </a:rPr>
              <a:t> 12</a:t>
            </a:r>
            <a:r>
              <a:rPr lang="en-IN" sz="600" dirty="0">
                <a:solidFill>
                  <a:srgbClr val="0000DC"/>
                </a:solidFill>
                <a:latin typeface="Century Gothic"/>
                <a:cs typeface="Century Gothic"/>
              </a:rPr>
              <a:t>,</a:t>
            </a:r>
            <a:r>
              <a:rPr lang="en-IN" sz="600" spc="1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lang="en-IN" sz="600" spc="-20" dirty="0">
                <a:solidFill>
                  <a:srgbClr val="0000DC"/>
                </a:solidFill>
                <a:latin typeface="Century Gothic"/>
                <a:cs typeface="Century Gothic"/>
              </a:rPr>
              <a:t>2026</a:t>
            </a:r>
            <a:endParaRPr lang="en-IN" sz="600" dirty="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/>
              <a:t>5</a:t>
            </a:fld>
            <a:r>
              <a:rPr spc="5" dirty="0"/>
              <a:t> </a:t>
            </a:r>
            <a:r>
              <a:rPr dirty="0"/>
              <a:t>/</a:t>
            </a:r>
            <a:r>
              <a:rPr spc="10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08224" y="16997"/>
            <a:ext cx="3048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dirty="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AIORI</a:t>
            </a:r>
            <a:r>
              <a:rPr sz="600" b="1" spc="40" dirty="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 </a:t>
            </a:r>
            <a:r>
              <a:rPr sz="600" b="1" spc="-50" dirty="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3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7016" y="16997"/>
            <a:ext cx="84772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10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Solution</a:t>
            </a:r>
            <a:r>
              <a:rPr sz="600" b="1" spc="95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 </a:t>
            </a:r>
            <a:r>
              <a:rPr sz="600" b="1" spc="-10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Optimization</a:t>
            </a:r>
            <a:endParaRPr sz="600" dirty="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93" y="198244"/>
            <a:ext cx="180848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IN" sz="1400" b="1" spc="-80" dirty="0">
                <a:solidFill>
                  <a:srgbClr val="0000DC"/>
                </a:solidFill>
                <a:latin typeface="Century Gothic"/>
                <a:cs typeface="Century Gothic"/>
              </a:rPr>
              <a:t>Proposed </a:t>
            </a:r>
            <a:r>
              <a:rPr sz="1400" b="1" spc="-60" dirty="0">
                <a:solidFill>
                  <a:srgbClr val="0000DC"/>
                </a:solidFill>
                <a:latin typeface="Century Gothic"/>
                <a:cs typeface="Century Gothic"/>
              </a:rPr>
              <a:t>Optimization</a:t>
            </a:r>
            <a:endParaRPr sz="1400" dirty="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9293" y="3050083"/>
            <a:ext cx="1608455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15"/>
              </a:lnSpc>
            </a:pPr>
            <a:r>
              <a:rPr lang="en-IN" sz="2100" i="1" spc="-202" baseline="-7936" dirty="0">
                <a:solidFill>
                  <a:srgbClr val="0000DC"/>
                </a:solidFill>
                <a:latin typeface="Arial Narrow"/>
                <a:cs typeface="Arial Narrow"/>
              </a:rPr>
              <a:t> </a:t>
            </a:r>
            <a:r>
              <a:rPr lang="en-IN" sz="600" b="1" dirty="0">
                <a:solidFill>
                  <a:srgbClr val="0000DC"/>
                </a:solidFill>
                <a:latin typeface="Century Gothic"/>
                <a:cs typeface="Century Gothic"/>
                <a:hlinkClick r:id="rId4" action="ppaction://hlinksldjump"/>
              </a:rPr>
              <a:t>A3-PS035-TC026</a:t>
            </a:r>
            <a:r>
              <a:rPr lang="en-IN" sz="600" b="1" spc="1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lang="en-IN" sz="2100" i="1" baseline="-7936" dirty="0">
                <a:solidFill>
                  <a:srgbClr val="0000DC"/>
                </a:solidFill>
                <a:latin typeface="Arial Narrow"/>
                <a:cs typeface="Arial Narrow"/>
              </a:rPr>
              <a:t>·</a:t>
            </a:r>
            <a:r>
              <a:rPr lang="en-IN" sz="2100" i="1" spc="-202" baseline="-7936" dirty="0">
                <a:solidFill>
                  <a:srgbClr val="0000DC"/>
                </a:solidFill>
                <a:latin typeface="Arial Narrow"/>
                <a:cs typeface="Arial Narrow"/>
              </a:rPr>
              <a:t> </a:t>
            </a:r>
            <a:r>
              <a:rPr lang="en-IN" sz="600" spc="-20" dirty="0">
                <a:solidFill>
                  <a:srgbClr val="0000DC"/>
                </a:solidFill>
                <a:latin typeface="Century Gothic"/>
                <a:cs typeface="Century Gothic"/>
              </a:rPr>
              <a:t>October</a:t>
            </a:r>
            <a:r>
              <a:rPr lang="en-IN" sz="600" spc="10" dirty="0">
                <a:solidFill>
                  <a:srgbClr val="0000DC"/>
                </a:solidFill>
                <a:latin typeface="Century Gothic"/>
                <a:cs typeface="Century Gothic"/>
              </a:rPr>
              <a:t> 12</a:t>
            </a:r>
            <a:r>
              <a:rPr lang="en-IN" sz="600" dirty="0">
                <a:solidFill>
                  <a:srgbClr val="0000DC"/>
                </a:solidFill>
                <a:latin typeface="Century Gothic"/>
                <a:cs typeface="Century Gothic"/>
              </a:rPr>
              <a:t>,</a:t>
            </a:r>
            <a:r>
              <a:rPr lang="en-IN" sz="600" spc="1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lang="en-IN" sz="600" spc="-20" dirty="0">
                <a:solidFill>
                  <a:srgbClr val="0000DC"/>
                </a:solidFill>
                <a:latin typeface="Century Gothic"/>
                <a:cs typeface="Century Gothic"/>
              </a:rPr>
              <a:t>2026</a:t>
            </a:r>
            <a:endParaRPr lang="en-IN" sz="600" dirty="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/>
              <a:t>6</a:t>
            </a:fld>
            <a:r>
              <a:rPr spc="5" dirty="0"/>
              <a:t> </a:t>
            </a:r>
            <a:r>
              <a:rPr dirty="0"/>
              <a:t>/</a:t>
            </a:r>
            <a:r>
              <a:rPr spc="10" dirty="0"/>
              <a:t> </a:t>
            </a:r>
            <a:r>
              <a:rPr spc="-25" dirty="0"/>
              <a:t>11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7F1D0DA-68E3-CD57-0187-8548F789C5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0140657"/>
              </p:ext>
            </p:extLst>
          </p:nvPr>
        </p:nvGraphicFramePr>
        <p:xfrm>
          <a:off x="1663699" y="596899"/>
          <a:ext cx="3849690" cy="1828800"/>
        </p:xfrm>
        <a:graphic>
          <a:graphicData uri="http://schemas.openxmlformats.org/drawingml/2006/table">
            <a:tbl>
              <a:tblPr/>
              <a:tblGrid>
                <a:gridCol w="1924845">
                  <a:extLst>
                    <a:ext uri="{9D8B030D-6E8A-4147-A177-3AD203B41FA5}">
                      <a16:colId xmlns:a16="http://schemas.microsoft.com/office/drawing/2014/main" val="1256483545"/>
                    </a:ext>
                  </a:extLst>
                </a:gridCol>
                <a:gridCol w="1924845">
                  <a:extLst>
                    <a:ext uri="{9D8B030D-6E8A-4147-A177-3AD203B41FA5}">
                      <a16:colId xmlns:a16="http://schemas.microsoft.com/office/drawing/2014/main" val="25363204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31735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4895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13860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9509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5646988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2270084-5039-1E59-2CA8-8F732BB0AF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333110"/>
              </p:ext>
            </p:extLst>
          </p:nvPr>
        </p:nvGraphicFramePr>
        <p:xfrm>
          <a:off x="239293" y="557416"/>
          <a:ext cx="4876800" cy="19458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4099399923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905539327"/>
                    </a:ext>
                  </a:extLst>
                </a:gridCol>
              </a:tblGrid>
              <a:tr h="407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Conventional 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Proposed TRACE approach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955140"/>
                  </a:ext>
                </a:extLst>
              </a:tr>
              <a:tr h="5821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Separate evidence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Correlated topology, logs and measurements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7825844"/>
                  </a:ext>
                </a:extLst>
              </a:tr>
              <a:tr h="407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Manual fault investigation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Ranked fault hypotheses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3206694"/>
                  </a:ext>
                </a:extLst>
              </a:tr>
              <a:tr h="2361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Limited diagnostic explanation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Evidence-backed predictions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5368555"/>
                  </a:ext>
                </a:extLst>
              </a:tr>
              <a:tr h="2361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Unclear uncertainty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Flag missing or conflicting evidence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2936849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20F6A51C-FB23-889F-B39D-9AD65D447419}"/>
              </a:ext>
            </a:extLst>
          </p:cNvPr>
          <p:cNvSpPr txBox="1"/>
          <p:nvPr/>
        </p:nvSpPr>
        <p:spPr>
          <a:xfrm>
            <a:off x="139700" y="2561240"/>
            <a:ext cx="5181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dirty="0">
                <a:latin typeface="Century Gothic" panose="020B0502020202090204" pitchFamily="34" charset="0"/>
              </a:rPr>
              <a:t>Evaluation:</a:t>
            </a:r>
            <a:r>
              <a:rPr lang="en-IN" sz="1100" dirty="0">
                <a:latin typeface="Century Gothic" panose="020B0502020202090204" pitchFamily="34" charset="0"/>
              </a:rPr>
              <a:t> Compare a rule-based baseline with the combined approach using top-1 accuracy, top-3 accuracy and macro-F1.</a:t>
            </a: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9293" y="-20564"/>
            <a:ext cx="2574290" cy="46291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390"/>
              </a:spcBef>
            </a:pPr>
            <a:r>
              <a:rPr sz="600" b="1" dirty="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AIORI</a:t>
            </a:r>
            <a:r>
              <a:rPr sz="600" b="1" spc="40" dirty="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 </a:t>
            </a:r>
            <a:r>
              <a:rPr sz="600" b="1" spc="-50" dirty="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3</a:t>
            </a:r>
            <a:endParaRPr sz="600" dirty="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6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</a:pPr>
            <a:r>
              <a:rPr sz="1400" b="1" spc="-20" dirty="0">
                <a:solidFill>
                  <a:srgbClr val="0000DC"/>
                </a:solidFill>
                <a:latin typeface="Century Gothic"/>
                <a:cs typeface="Century Gothic"/>
              </a:rPr>
              <a:t>Solution </a:t>
            </a:r>
            <a:r>
              <a:rPr sz="1400" b="1" spc="-85" dirty="0">
                <a:solidFill>
                  <a:srgbClr val="0000DC"/>
                </a:solidFill>
                <a:latin typeface="Century Gothic"/>
                <a:cs typeface="Century Gothic"/>
              </a:rPr>
              <a:t>Architecture</a:t>
            </a:r>
            <a:r>
              <a:rPr sz="1400" b="1" spc="-15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1400" b="1" spc="204" dirty="0">
                <a:solidFill>
                  <a:srgbClr val="0000DC"/>
                </a:solidFill>
                <a:latin typeface="Century Gothic"/>
                <a:cs typeface="Century Gothic"/>
              </a:rPr>
              <a:t>&amp;</a:t>
            </a:r>
            <a:r>
              <a:rPr sz="1400" b="1" spc="-15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1400" b="1" spc="-10" dirty="0">
                <a:solidFill>
                  <a:srgbClr val="0000DC"/>
                </a:solidFill>
                <a:latin typeface="Century Gothic"/>
                <a:cs typeface="Century Gothic"/>
              </a:rPr>
              <a:t>Design</a:t>
            </a:r>
            <a:endParaRPr sz="1400" dirty="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7016" y="16997"/>
            <a:ext cx="133096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Architecture</a:t>
            </a:r>
            <a:r>
              <a:rPr sz="600" b="1" spc="15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 </a:t>
            </a:r>
            <a:r>
              <a:rPr sz="600" b="1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Design</a:t>
            </a:r>
            <a:r>
              <a:rPr sz="600" b="1" spc="15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 </a:t>
            </a:r>
            <a:r>
              <a:rPr sz="600" b="1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(UML</a:t>
            </a:r>
            <a:r>
              <a:rPr sz="600" b="1" spc="15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 </a:t>
            </a:r>
            <a:r>
              <a:rPr sz="600" b="1" spc="-10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Diagram)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63900" y="2751317"/>
            <a:ext cx="228028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lvl="1">
              <a:spcBef>
                <a:spcPts val="95"/>
              </a:spcBef>
            </a:pPr>
            <a:r>
              <a:rPr sz="1000" spc="-40" dirty="0">
                <a:solidFill>
                  <a:srgbClr val="0000DC"/>
                </a:solidFill>
                <a:latin typeface="Century Gothic"/>
                <a:cs typeface="Century Gothic"/>
              </a:rPr>
              <a:t>Figure:</a:t>
            </a:r>
            <a:r>
              <a:rPr sz="100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1000" spc="-60" dirty="0">
                <a:latin typeface="Century Gothic"/>
                <a:cs typeface="Century Gothic"/>
              </a:rPr>
              <a:t>System</a:t>
            </a:r>
            <a:r>
              <a:rPr sz="1000" dirty="0">
                <a:latin typeface="Century Gothic"/>
                <a:cs typeface="Century Gothic"/>
              </a:rPr>
              <a:t> </a:t>
            </a:r>
            <a:r>
              <a:rPr sz="1000" spc="-80" dirty="0">
                <a:latin typeface="Century Gothic"/>
                <a:cs typeface="Century Gothic"/>
              </a:rPr>
              <a:t>Architecture</a:t>
            </a:r>
            <a:r>
              <a:rPr sz="1000" dirty="0">
                <a:latin typeface="Century Gothic"/>
                <a:cs typeface="Century Gothic"/>
              </a:rPr>
              <a:t> </a:t>
            </a:r>
            <a:r>
              <a:rPr sz="1000" spc="-25" dirty="0">
                <a:latin typeface="Century Gothic"/>
                <a:cs typeface="Century Gothic"/>
              </a:rPr>
              <a:t>UML</a:t>
            </a:r>
            <a:r>
              <a:rPr sz="1000" dirty="0">
                <a:latin typeface="Century Gothic"/>
                <a:cs typeface="Century Gothic"/>
              </a:rPr>
              <a:t> </a:t>
            </a:r>
            <a:r>
              <a:rPr sz="1000" spc="-75" dirty="0">
                <a:latin typeface="Century Gothic"/>
                <a:cs typeface="Century Gothic"/>
              </a:rPr>
              <a:t>Diagram</a:t>
            </a:r>
            <a:endParaRPr sz="1000" dirty="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9293" y="3050083"/>
            <a:ext cx="1608455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15"/>
              </a:lnSpc>
            </a:pPr>
            <a:r>
              <a:rPr lang="en-IN" sz="2100" i="1" spc="-202" baseline="-7936" dirty="0">
                <a:solidFill>
                  <a:srgbClr val="0000DC"/>
                </a:solidFill>
                <a:latin typeface="Arial Narrow"/>
                <a:cs typeface="Arial Narrow"/>
              </a:rPr>
              <a:t> </a:t>
            </a:r>
            <a:r>
              <a:rPr lang="en-IN" sz="600" b="1" dirty="0">
                <a:solidFill>
                  <a:srgbClr val="0000DC"/>
                </a:solidFill>
                <a:latin typeface="Century Gothic"/>
                <a:cs typeface="Century Gothic"/>
                <a:hlinkClick r:id="rId4" action="ppaction://hlinksldjump"/>
              </a:rPr>
              <a:t>A3-PS035-TC026</a:t>
            </a:r>
            <a:r>
              <a:rPr lang="en-IN" sz="600" b="1" spc="1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lang="en-IN" sz="2100" i="1" baseline="-7936" dirty="0">
                <a:solidFill>
                  <a:srgbClr val="0000DC"/>
                </a:solidFill>
                <a:latin typeface="Arial Narrow"/>
                <a:cs typeface="Arial Narrow"/>
              </a:rPr>
              <a:t>·</a:t>
            </a:r>
            <a:r>
              <a:rPr lang="en-IN" sz="2100" i="1" spc="-202" baseline="-7936" dirty="0">
                <a:solidFill>
                  <a:srgbClr val="0000DC"/>
                </a:solidFill>
                <a:latin typeface="Arial Narrow"/>
                <a:cs typeface="Arial Narrow"/>
              </a:rPr>
              <a:t> </a:t>
            </a:r>
            <a:r>
              <a:rPr lang="en-IN" sz="600" spc="-20" dirty="0">
                <a:solidFill>
                  <a:srgbClr val="0000DC"/>
                </a:solidFill>
                <a:latin typeface="Century Gothic"/>
                <a:cs typeface="Century Gothic"/>
              </a:rPr>
              <a:t>October</a:t>
            </a:r>
            <a:r>
              <a:rPr lang="en-IN" sz="600" spc="10" dirty="0">
                <a:solidFill>
                  <a:srgbClr val="0000DC"/>
                </a:solidFill>
                <a:latin typeface="Century Gothic"/>
                <a:cs typeface="Century Gothic"/>
              </a:rPr>
              <a:t> 12</a:t>
            </a:r>
            <a:r>
              <a:rPr lang="en-IN" sz="600" dirty="0">
                <a:solidFill>
                  <a:srgbClr val="0000DC"/>
                </a:solidFill>
                <a:latin typeface="Century Gothic"/>
                <a:cs typeface="Century Gothic"/>
              </a:rPr>
              <a:t>,</a:t>
            </a:r>
            <a:r>
              <a:rPr lang="en-IN" sz="600" spc="1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lang="en-IN" sz="600" spc="-20" dirty="0">
                <a:solidFill>
                  <a:srgbClr val="0000DC"/>
                </a:solidFill>
                <a:latin typeface="Century Gothic"/>
                <a:cs typeface="Century Gothic"/>
              </a:rPr>
              <a:t>2026</a:t>
            </a:r>
            <a:endParaRPr lang="en-IN" sz="600" dirty="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/>
              <a:t>7</a:t>
            </a:fld>
            <a:r>
              <a:rPr spc="5" dirty="0"/>
              <a:t> </a:t>
            </a:r>
            <a:r>
              <a:rPr dirty="0"/>
              <a:t>/</a:t>
            </a:r>
            <a:r>
              <a:rPr spc="10" dirty="0"/>
              <a:t> </a:t>
            </a:r>
            <a:r>
              <a:rPr spc="-25" dirty="0"/>
              <a:t>11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FC0A83D-7DAD-9A63-31C1-10D2722D2F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7676" y="133836"/>
            <a:ext cx="2900599" cy="261748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44A74B1-ADF0-D799-E5B4-E6DAB0F2064D}"/>
              </a:ext>
            </a:extLst>
          </p:cNvPr>
          <p:cNvSpPr txBox="1"/>
          <p:nvPr/>
        </p:nvSpPr>
        <p:spPr>
          <a:xfrm>
            <a:off x="221615" y="559189"/>
            <a:ext cx="220408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900" b="1" dirty="0">
                <a:latin typeface="Century Gothic" panose="020B0502020202090204" pitchFamily="34" charset="0"/>
              </a:rPr>
              <a:t>Data Collection:</a:t>
            </a:r>
            <a:r>
              <a:rPr lang="en-IN" sz="900" dirty="0">
                <a:latin typeface="Century Gothic" panose="020B0502020202090204" pitchFamily="34" charset="0"/>
              </a:rPr>
              <a:t> Gather topology, logs and network measurements.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900" b="1" dirty="0">
                <a:latin typeface="Century Gothic" panose="020B0502020202090204" pitchFamily="34" charset="0"/>
              </a:rPr>
              <a:t>Feature Engineering:</a:t>
            </a:r>
            <a:r>
              <a:rPr lang="en-IN" sz="900" dirty="0">
                <a:latin typeface="Century Gothic" panose="020B0502020202090204" pitchFamily="34" charset="0"/>
              </a:rPr>
              <a:t> Clean data and extract relevant features.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900" b="1" dirty="0">
                <a:latin typeface="Century Gothic" panose="020B0502020202090204" pitchFamily="34" charset="0"/>
              </a:rPr>
              <a:t>Fault Detection:</a:t>
            </a:r>
            <a:r>
              <a:rPr lang="en-IN" sz="900" dirty="0">
                <a:latin typeface="Century Gothic" panose="020B0502020202090204" pitchFamily="34" charset="0"/>
              </a:rPr>
              <a:t> Compare rule-based diagnosis with Random Forest predictions.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900" b="1" dirty="0">
                <a:latin typeface="Century Gothic" panose="020B0502020202090204" pitchFamily="34" charset="0"/>
              </a:rPr>
              <a:t>Evidence Correlation:</a:t>
            </a:r>
            <a:r>
              <a:rPr lang="en-IN" sz="900" dirty="0">
                <a:latin typeface="Century Gothic" panose="020B0502020202090204" pitchFamily="34" charset="0"/>
              </a:rPr>
              <a:t> Rank probable root causes using network paths and diagnostic evidence.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900" b="1" dirty="0">
                <a:latin typeface="Century Gothic" panose="020B0502020202090204" pitchFamily="34" charset="0"/>
              </a:rPr>
              <a:t>Diagnosis &amp; Evaluation:</a:t>
            </a:r>
            <a:r>
              <a:rPr lang="en-IN" sz="900" dirty="0">
                <a:latin typeface="Century Gothic" panose="020B0502020202090204" pitchFamily="34" charset="0"/>
              </a:rPr>
              <a:t> Explain results, flag uncertainty and evaluate performance.</a:t>
            </a:r>
          </a:p>
          <a:p>
            <a:endParaRPr lang="en-IN" sz="900" dirty="0">
              <a:latin typeface="Century Gothic" panose="020B0502020202090204" pitchFamily="34" charset="0"/>
            </a:endParaRP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08224" y="16997"/>
            <a:ext cx="116903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50850" algn="l"/>
              </a:tabLst>
            </a:pPr>
            <a:r>
              <a:rPr sz="600" b="1" dirty="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AIORI</a:t>
            </a:r>
            <a:r>
              <a:rPr sz="600" b="1" spc="40" dirty="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 </a:t>
            </a:r>
            <a:r>
              <a:rPr sz="600" b="1" spc="-50" dirty="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3</a:t>
            </a:r>
            <a:r>
              <a:rPr sz="600" b="1" dirty="0">
                <a:solidFill>
                  <a:srgbClr val="0000DC"/>
                </a:solidFill>
                <a:latin typeface="Century Gothic"/>
                <a:cs typeface="Century Gothic"/>
              </a:rPr>
              <a:t>	</a:t>
            </a:r>
            <a:r>
              <a:rPr sz="600" b="1" spc="-10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Data</a:t>
            </a:r>
            <a:r>
              <a:rPr sz="600" b="1" spc="20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 </a:t>
            </a:r>
            <a:r>
              <a:rPr sz="600" b="1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Flow</a:t>
            </a:r>
            <a:r>
              <a:rPr sz="600" b="1" spc="20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 </a:t>
            </a:r>
            <a:r>
              <a:rPr sz="600" b="1" spc="-10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Diagram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39293" y="106208"/>
            <a:ext cx="4951730" cy="325730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spc="-114" dirty="0"/>
              <a:t>Data</a:t>
            </a:r>
            <a:r>
              <a:rPr spc="-30" dirty="0"/>
              <a:t> </a:t>
            </a:r>
            <a:r>
              <a:rPr spc="-20" dirty="0"/>
              <a:t>Flow</a:t>
            </a:r>
            <a:r>
              <a:rPr spc="-30" dirty="0"/>
              <a:t> </a:t>
            </a:r>
            <a:r>
              <a:rPr spc="-10" dirty="0"/>
              <a:t>Diagram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979218" y="2843789"/>
            <a:ext cx="18021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40" dirty="0">
                <a:solidFill>
                  <a:srgbClr val="0000DC"/>
                </a:solidFill>
                <a:latin typeface="Century Gothic"/>
                <a:cs typeface="Century Gothic"/>
              </a:rPr>
              <a:t>Figure:</a:t>
            </a:r>
            <a:r>
              <a:rPr sz="100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1000" spc="-130" dirty="0">
                <a:latin typeface="Century Gothic"/>
                <a:cs typeface="Century Gothic"/>
              </a:rPr>
              <a:t>Data</a:t>
            </a:r>
            <a:r>
              <a:rPr sz="1000" dirty="0">
                <a:latin typeface="Century Gothic"/>
                <a:cs typeface="Century Gothic"/>
              </a:rPr>
              <a:t> </a:t>
            </a:r>
            <a:r>
              <a:rPr sz="1000" spc="-25" dirty="0">
                <a:latin typeface="Century Gothic"/>
                <a:cs typeface="Century Gothic"/>
              </a:rPr>
              <a:t>Flow</a:t>
            </a:r>
            <a:r>
              <a:rPr sz="1000" dirty="0">
                <a:latin typeface="Century Gothic"/>
                <a:cs typeface="Century Gothic"/>
              </a:rPr>
              <a:t> </a:t>
            </a:r>
            <a:r>
              <a:rPr sz="1000" spc="-105" dirty="0">
                <a:latin typeface="Century Gothic"/>
                <a:cs typeface="Century Gothic"/>
              </a:rPr>
              <a:t>Diagram</a:t>
            </a:r>
            <a:r>
              <a:rPr sz="1000" dirty="0">
                <a:latin typeface="Century Gothic"/>
                <a:cs typeface="Century Gothic"/>
              </a:rPr>
              <a:t> </a:t>
            </a:r>
            <a:r>
              <a:rPr sz="1000" spc="-55" dirty="0">
                <a:latin typeface="Century Gothic"/>
                <a:cs typeface="Century Gothic"/>
              </a:rPr>
              <a:t>(DFD)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9293" y="3050083"/>
            <a:ext cx="1608455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15"/>
              </a:lnSpc>
            </a:pPr>
            <a:r>
              <a:rPr lang="en-IN" sz="2100" i="1" spc="-202" baseline="-7936" dirty="0">
                <a:solidFill>
                  <a:srgbClr val="0000DC"/>
                </a:solidFill>
                <a:latin typeface="Arial Narrow"/>
                <a:cs typeface="Arial Narrow"/>
              </a:rPr>
              <a:t> </a:t>
            </a:r>
            <a:r>
              <a:rPr lang="en-IN" sz="600" b="1" dirty="0">
                <a:solidFill>
                  <a:srgbClr val="0000DC"/>
                </a:solidFill>
                <a:latin typeface="Century Gothic"/>
                <a:cs typeface="Century Gothic"/>
                <a:hlinkClick r:id="rId4" action="ppaction://hlinksldjump"/>
              </a:rPr>
              <a:t>A3-PS035-TC026</a:t>
            </a:r>
            <a:r>
              <a:rPr lang="en-IN" sz="600" b="1" spc="1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lang="en-IN" sz="2100" i="1" baseline="-7936" dirty="0">
                <a:solidFill>
                  <a:srgbClr val="0000DC"/>
                </a:solidFill>
                <a:latin typeface="Arial Narrow"/>
                <a:cs typeface="Arial Narrow"/>
              </a:rPr>
              <a:t>·</a:t>
            </a:r>
            <a:r>
              <a:rPr lang="en-IN" sz="2100" i="1" spc="-202" baseline="-7936" dirty="0">
                <a:solidFill>
                  <a:srgbClr val="0000DC"/>
                </a:solidFill>
                <a:latin typeface="Arial Narrow"/>
                <a:cs typeface="Arial Narrow"/>
              </a:rPr>
              <a:t> </a:t>
            </a:r>
            <a:r>
              <a:rPr lang="en-IN" sz="600" spc="-20" dirty="0">
                <a:solidFill>
                  <a:srgbClr val="0000DC"/>
                </a:solidFill>
                <a:latin typeface="Century Gothic"/>
                <a:cs typeface="Century Gothic"/>
              </a:rPr>
              <a:t>October</a:t>
            </a:r>
            <a:r>
              <a:rPr lang="en-IN" sz="600" spc="10" dirty="0">
                <a:solidFill>
                  <a:srgbClr val="0000DC"/>
                </a:solidFill>
                <a:latin typeface="Century Gothic"/>
                <a:cs typeface="Century Gothic"/>
              </a:rPr>
              <a:t> 12</a:t>
            </a:r>
            <a:r>
              <a:rPr lang="en-IN" sz="600" dirty="0">
                <a:solidFill>
                  <a:srgbClr val="0000DC"/>
                </a:solidFill>
                <a:latin typeface="Century Gothic"/>
                <a:cs typeface="Century Gothic"/>
              </a:rPr>
              <a:t>,</a:t>
            </a:r>
            <a:r>
              <a:rPr lang="en-IN" sz="600" spc="1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lang="en-IN" sz="600" spc="-20" dirty="0">
                <a:solidFill>
                  <a:srgbClr val="0000DC"/>
                </a:solidFill>
                <a:latin typeface="Century Gothic"/>
                <a:cs typeface="Century Gothic"/>
              </a:rPr>
              <a:t>2026</a:t>
            </a:r>
            <a:endParaRPr lang="en-IN" sz="600" dirty="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/>
              <a:t>8</a:t>
            </a:fld>
            <a:r>
              <a:rPr spc="5" dirty="0"/>
              <a:t> </a:t>
            </a:r>
            <a:r>
              <a:rPr dirty="0"/>
              <a:t>/</a:t>
            </a:r>
            <a:r>
              <a:rPr spc="10" dirty="0"/>
              <a:t> </a:t>
            </a:r>
            <a:r>
              <a:rPr spc="-25" dirty="0"/>
              <a:t>11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3CB0D50-C37C-2659-C1B2-E37886CE80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0" y="617879"/>
            <a:ext cx="4114800" cy="2246263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08224" y="16997"/>
            <a:ext cx="3048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dirty="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AIORI</a:t>
            </a:r>
            <a:r>
              <a:rPr sz="600" b="1" spc="40" dirty="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 </a:t>
            </a:r>
            <a:r>
              <a:rPr sz="600" b="1" spc="-50" dirty="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3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7016" y="16997"/>
            <a:ext cx="8305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Deployment</a:t>
            </a:r>
            <a:r>
              <a:rPr sz="600" b="1" spc="-35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 </a:t>
            </a:r>
            <a:r>
              <a:rPr sz="600" b="1" spc="-10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Timeline</a:t>
            </a:r>
            <a:endParaRPr sz="600" dirty="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93" y="198244"/>
            <a:ext cx="170497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-95" dirty="0">
                <a:solidFill>
                  <a:srgbClr val="0000DC"/>
                </a:solidFill>
                <a:latin typeface="Century Gothic"/>
                <a:cs typeface="Century Gothic"/>
              </a:rPr>
              <a:t>Deployment</a:t>
            </a:r>
            <a:r>
              <a:rPr sz="1400" b="1" spc="-2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1400" b="1" spc="-10" dirty="0">
                <a:solidFill>
                  <a:srgbClr val="0000DC"/>
                </a:solidFill>
                <a:latin typeface="Century Gothic"/>
                <a:cs typeface="Century Gothic"/>
              </a:rPr>
              <a:t>Timeline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9293" y="694922"/>
            <a:ext cx="5075555" cy="136575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100" b="1" dirty="0">
                <a:latin typeface="Century Gothic" panose="020B0502020202090204" pitchFamily="34" charset="0"/>
              </a:rPr>
              <a:t>Testbed setup:</a:t>
            </a:r>
            <a:r>
              <a:rPr lang="en-IN" sz="1100" dirty="0">
                <a:latin typeface="Century Gothic" panose="020B0502020202090204" pitchFamily="34" charset="0"/>
              </a:rPr>
              <a:t> Configure five nodes and baseline connectivity.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100" b="1" dirty="0">
                <a:latin typeface="Century Gothic" panose="020B0502020202090204" pitchFamily="34" charset="0"/>
              </a:rPr>
              <a:t>Fault simulation:</a:t>
            </a:r>
            <a:r>
              <a:rPr lang="en-IN" sz="1100" dirty="0">
                <a:latin typeface="Century Gothic" panose="020B0502020202090204" pitchFamily="34" charset="0"/>
              </a:rPr>
              <a:t> Implement five scenarios and collect data.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100" b="1" dirty="0">
                <a:latin typeface="Century Gothic" panose="020B0502020202090204" pitchFamily="34" charset="0"/>
              </a:rPr>
              <a:t>Feature engineering:</a:t>
            </a:r>
            <a:r>
              <a:rPr lang="en-IN" sz="1100" dirty="0">
                <a:latin typeface="Century Gothic" panose="020B0502020202090204" pitchFamily="34" charset="0"/>
              </a:rPr>
              <a:t> Prepare labelled training and test datasets.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100" b="1" dirty="0">
                <a:latin typeface="Century Gothic" panose="020B0502020202090204" pitchFamily="34" charset="0"/>
              </a:rPr>
              <a:t>Model development:</a:t>
            </a:r>
            <a:r>
              <a:rPr lang="en-IN" sz="1100" dirty="0">
                <a:latin typeface="Century Gothic" panose="020B0502020202090204" pitchFamily="34" charset="0"/>
              </a:rPr>
              <a:t> Build the baseline and Random Forest classifier.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100" b="1" dirty="0">
                <a:latin typeface="Century Gothic" panose="020B0502020202090204" pitchFamily="34" charset="0"/>
              </a:rPr>
              <a:t>Integration:</a:t>
            </a:r>
            <a:r>
              <a:rPr lang="en-IN" sz="1100" dirty="0">
                <a:latin typeface="Century Gothic" panose="020B0502020202090204" pitchFamily="34" charset="0"/>
              </a:rPr>
              <a:t> Implement topology-aware analysis and dashboard.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100" b="1" dirty="0">
                <a:latin typeface="Century Gothic" panose="020B0502020202090204" pitchFamily="34" charset="0"/>
              </a:rPr>
              <a:t>Evaluation:</a:t>
            </a:r>
            <a:r>
              <a:rPr lang="en-IN" sz="1100" dirty="0">
                <a:latin typeface="Century Gothic" panose="020B0502020202090204" pitchFamily="34" charset="0"/>
              </a:rPr>
              <a:t> Measure accuracy, macro-F1 and top-3 accuracy.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b="1" dirty="0">
                <a:latin typeface="Century Gothic" panose="020B0502020202090204" pitchFamily="34" charset="0"/>
              </a:rPr>
              <a:t>Methodology:</a:t>
            </a:r>
            <a:r>
              <a:rPr lang="en-IN" sz="1100" dirty="0">
                <a:latin typeface="Century Gothic" panose="020B0502020202090204" pitchFamily="34" charset="0"/>
              </a:rPr>
              <a:t> Iterative development, controlled experiments and held-out testing.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39293" y="3050083"/>
            <a:ext cx="1608455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15"/>
              </a:lnSpc>
            </a:pPr>
            <a:r>
              <a:rPr lang="en-IN" sz="2100" i="1" spc="-202" baseline="-7936" dirty="0">
                <a:solidFill>
                  <a:srgbClr val="0000DC"/>
                </a:solidFill>
                <a:latin typeface="Arial Narrow"/>
                <a:cs typeface="Arial Narrow"/>
              </a:rPr>
              <a:t> </a:t>
            </a:r>
            <a:r>
              <a:rPr lang="en-IN" sz="600" b="1" dirty="0">
                <a:solidFill>
                  <a:srgbClr val="0000DC"/>
                </a:solidFill>
                <a:latin typeface="Century Gothic"/>
                <a:cs typeface="Century Gothic"/>
                <a:hlinkClick r:id="rId4" action="ppaction://hlinksldjump"/>
              </a:rPr>
              <a:t>A3-PS035-TC026</a:t>
            </a:r>
            <a:r>
              <a:rPr lang="en-IN" sz="600" b="1" spc="1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lang="en-IN" sz="2100" i="1" baseline="-7936" dirty="0">
                <a:solidFill>
                  <a:srgbClr val="0000DC"/>
                </a:solidFill>
                <a:latin typeface="Arial Narrow"/>
                <a:cs typeface="Arial Narrow"/>
              </a:rPr>
              <a:t>·</a:t>
            </a:r>
            <a:r>
              <a:rPr lang="en-IN" sz="2100" i="1" spc="-202" baseline="-7936" dirty="0">
                <a:solidFill>
                  <a:srgbClr val="0000DC"/>
                </a:solidFill>
                <a:latin typeface="Arial Narrow"/>
                <a:cs typeface="Arial Narrow"/>
              </a:rPr>
              <a:t> </a:t>
            </a:r>
            <a:r>
              <a:rPr lang="en-IN" sz="600" spc="-20" dirty="0">
                <a:solidFill>
                  <a:srgbClr val="0000DC"/>
                </a:solidFill>
                <a:latin typeface="Century Gothic"/>
                <a:cs typeface="Century Gothic"/>
              </a:rPr>
              <a:t>October</a:t>
            </a:r>
            <a:r>
              <a:rPr lang="en-IN" sz="600" spc="10" dirty="0">
                <a:solidFill>
                  <a:srgbClr val="0000DC"/>
                </a:solidFill>
                <a:latin typeface="Century Gothic"/>
                <a:cs typeface="Century Gothic"/>
              </a:rPr>
              <a:t> 12</a:t>
            </a:r>
            <a:r>
              <a:rPr lang="en-IN" sz="600" dirty="0">
                <a:solidFill>
                  <a:srgbClr val="0000DC"/>
                </a:solidFill>
                <a:latin typeface="Century Gothic"/>
                <a:cs typeface="Century Gothic"/>
              </a:rPr>
              <a:t>,</a:t>
            </a:r>
            <a:r>
              <a:rPr lang="en-IN" sz="600" spc="1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lang="en-IN" sz="600" spc="-20" dirty="0">
                <a:solidFill>
                  <a:srgbClr val="0000DC"/>
                </a:solidFill>
                <a:latin typeface="Century Gothic"/>
                <a:cs typeface="Century Gothic"/>
              </a:rPr>
              <a:t>2026</a:t>
            </a:r>
            <a:endParaRPr lang="en-IN" sz="600" dirty="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/>
              <a:t>9</a:t>
            </a:fld>
            <a:r>
              <a:rPr spc="5" dirty="0"/>
              <a:t> </a:t>
            </a:r>
            <a:r>
              <a:rPr dirty="0"/>
              <a:t>/</a:t>
            </a:r>
            <a:r>
              <a:rPr spc="10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12885" y="16997"/>
            <a:ext cx="5003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10" dirty="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Bibliography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5" dirty="0"/>
              <a:t>Bibliography</a:t>
            </a:r>
            <a:r>
              <a:rPr spc="-20" dirty="0"/>
              <a:t> </a:t>
            </a:r>
            <a:r>
              <a:rPr spc="-50" dirty="0"/>
              <a:t>I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239293" y="596822"/>
            <a:ext cx="5273675" cy="13612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r>
              <a:rPr lang="en-IN" dirty="0"/>
              <a:t>[1] IETF Hackathon — Network Fault Localisation</a:t>
            </a:r>
            <a:br>
              <a:rPr lang="en-IN" dirty="0"/>
            </a:br>
            <a:r>
              <a:rPr lang="en-IN" dirty="0">
                <a:hlinkClick r:id="rId3"/>
              </a:rPr>
              <a:t>https://wiki.ietf.org/en/meeting/126/hackathon</a:t>
            </a:r>
            <a:endParaRPr lang="en-IN" dirty="0"/>
          </a:p>
          <a:p>
            <a:r>
              <a:rPr lang="en-IN" dirty="0"/>
              <a:t>[2] RFC 5424 — The Syslog Protocol</a:t>
            </a:r>
            <a:br>
              <a:rPr lang="en-IN" dirty="0"/>
            </a:br>
            <a:r>
              <a:rPr lang="en-IN" dirty="0">
                <a:hlinkClick r:id="rId4"/>
              </a:rPr>
              <a:t>https://www.rfc-editor.org/rfc/rfc5424</a:t>
            </a:r>
            <a:endParaRPr lang="en-IN" dirty="0"/>
          </a:p>
          <a:p>
            <a:r>
              <a:rPr lang="en-IN" dirty="0"/>
              <a:t>[3] RFC 2680 — One-way Packet Loss Metric</a:t>
            </a:r>
            <a:br>
              <a:rPr lang="en-IN" dirty="0"/>
            </a:br>
            <a:r>
              <a:rPr lang="en-IN" dirty="0">
                <a:hlinkClick r:id="rId5"/>
              </a:rPr>
              <a:t>https://www.rfc-editor.org/rfc/rfc2680</a:t>
            </a:r>
            <a:endParaRPr lang="en-IN" dirty="0"/>
          </a:p>
          <a:p>
            <a:r>
              <a:rPr lang="en-IN" dirty="0"/>
              <a:t>[4] RFC 8639 — Subscription to YANG Notifications</a:t>
            </a:r>
            <a:br>
              <a:rPr lang="en-IN" dirty="0"/>
            </a:br>
            <a:r>
              <a:rPr lang="en-IN" dirty="0">
                <a:hlinkClick r:id="rId6"/>
              </a:rPr>
              <a:t>https://www.rfc-editor.org/rfc/rfc8639</a:t>
            </a:r>
            <a:endParaRPr lang="en-IN" dirty="0"/>
          </a:p>
        </p:txBody>
      </p:sp>
      <p:sp>
        <p:nvSpPr>
          <p:cNvPr id="5" name="object 5"/>
          <p:cNvSpPr txBox="1"/>
          <p:nvPr/>
        </p:nvSpPr>
        <p:spPr>
          <a:xfrm>
            <a:off x="239293" y="3050083"/>
            <a:ext cx="1608455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15"/>
              </a:lnSpc>
            </a:pPr>
            <a:r>
              <a:rPr lang="en-IN" sz="2100" i="1" spc="-202" baseline="-7936" dirty="0">
                <a:solidFill>
                  <a:srgbClr val="0000DC"/>
                </a:solidFill>
                <a:latin typeface="Arial Narrow"/>
                <a:cs typeface="Arial Narrow"/>
              </a:rPr>
              <a:t> </a:t>
            </a:r>
            <a:r>
              <a:rPr lang="en-IN" sz="600" b="1" dirty="0">
                <a:solidFill>
                  <a:srgbClr val="0000DC"/>
                </a:solidFill>
                <a:latin typeface="Century Gothic"/>
                <a:cs typeface="Century Gothic"/>
                <a:hlinkClick r:id="rId7" action="ppaction://hlinksldjump"/>
              </a:rPr>
              <a:t>A3-PS035-TC026</a:t>
            </a:r>
            <a:r>
              <a:rPr lang="en-IN" sz="600" b="1" spc="1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lang="en-IN" sz="2100" i="1" baseline="-7936" dirty="0">
                <a:solidFill>
                  <a:srgbClr val="0000DC"/>
                </a:solidFill>
                <a:latin typeface="Arial Narrow"/>
                <a:cs typeface="Arial Narrow"/>
              </a:rPr>
              <a:t>·</a:t>
            </a:r>
            <a:r>
              <a:rPr lang="en-IN" sz="2100" i="1" spc="-202" baseline="-7936" dirty="0">
                <a:solidFill>
                  <a:srgbClr val="0000DC"/>
                </a:solidFill>
                <a:latin typeface="Arial Narrow"/>
                <a:cs typeface="Arial Narrow"/>
              </a:rPr>
              <a:t> </a:t>
            </a:r>
            <a:r>
              <a:rPr lang="en-IN" sz="600" spc="-20" dirty="0">
                <a:solidFill>
                  <a:srgbClr val="0000DC"/>
                </a:solidFill>
                <a:latin typeface="Century Gothic"/>
                <a:cs typeface="Century Gothic"/>
              </a:rPr>
              <a:t>October</a:t>
            </a:r>
            <a:r>
              <a:rPr lang="en-IN" sz="600" spc="10" dirty="0">
                <a:solidFill>
                  <a:srgbClr val="0000DC"/>
                </a:solidFill>
                <a:latin typeface="Century Gothic"/>
                <a:cs typeface="Century Gothic"/>
              </a:rPr>
              <a:t> 12</a:t>
            </a:r>
            <a:r>
              <a:rPr lang="en-IN" sz="600" dirty="0">
                <a:solidFill>
                  <a:srgbClr val="0000DC"/>
                </a:solidFill>
                <a:latin typeface="Century Gothic"/>
                <a:cs typeface="Century Gothic"/>
              </a:rPr>
              <a:t>,</a:t>
            </a:r>
            <a:r>
              <a:rPr lang="en-IN" sz="600" spc="1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lang="en-IN" sz="600" spc="-20" dirty="0">
                <a:solidFill>
                  <a:srgbClr val="0000DC"/>
                </a:solidFill>
                <a:latin typeface="Century Gothic"/>
                <a:cs typeface="Century Gothic"/>
              </a:rPr>
              <a:t>2026</a:t>
            </a:r>
            <a:endParaRPr lang="en-IN" sz="600" dirty="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/>
              <a:t>10</a:t>
            </a:fld>
            <a:r>
              <a:rPr spc="5" dirty="0"/>
              <a:t> </a:t>
            </a:r>
            <a:r>
              <a:rPr dirty="0"/>
              <a:t>/</a:t>
            </a:r>
            <a:r>
              <a:rPr spc="10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5900" y="1927225"/>
            <a:ext cx="4572000" cy="688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r>
              <a:rPr lang="en-IN" sz="1100" b="1" dirty="0">
                <a:solidFill>
                  <a:schemeClr val="tx2"/>
                </a:solidFill>
                <a:latin typeface="Century Gothic" panose="020B0502020202090204" pitchFamily="34" charset="0"/>
              </a:rPr>
              <a:t>TRACE</a:t>
            </a:r>
            <a:br>
              <a:rPr lang="en-IN" sz="1100" dirty="0">
                <a:latin typeface="Century Gothic" panose="020B0502020202090204" pitchFamily="34" charset="0"/>
              </a:rPr>
            </a:br>
            <a:r>
              <a:rPr lang="en-IN" sz="1100" dirty="0">
                <a:latin typeface="Century Gothic" panose="020B0502020202090204" pitchFamily="34" charset="0"/>
              </a:rPr>
              <a:t>Topology-aware Root-cause Analysis with Correlated Evidence</a:t>
            </a:r>
          </a:p>
          <a:p>
            <a:r>
              <a:rPr lang="en-IN" sz="1100" dirty="0">
                <a:latin typeface="Century Gothic" panose="020B0502020202090204" pitchFamily="34" charset="0"/>
              </a:rPr>
              <a:t>AIORI-3 Online Hackathon 2026</a:t>
            </a:r>
          </a:p>
          <a:p>
            <a:r>
              <a:rPr lang="en-IN" sz="1100" b="1" dirty="0">
                <a:solidFill>
                  <a:schemeClr val="tx2"/>
                </a:solidFill>
                <a:latin typeface="Century Gothic" panose="020B0502020202090204" pitchFamily="34" charset="0"/>
              </a:rPr>
              <a:t>Team Code:</a:t>
            </a:r>
            <a:r>
              <a:rPr lang="en-IN" sz="1100" dirty="0">
                <a:solidFill>
                  <a:schemeClr val="tx2"/>
                </a:solidFill>
                <a:latin typeface="Century Gothic" panose="020B0502020202090204" pitchFamily="34" charset="0"/>
              </a:rPr>
              <a:t> </a:t>
            </a:r>
            <a:r>
              <a:rPr lang="en-IN" sz="1100" b="1" i="1" dirty="0">
                <a:latin typeface="Century Gothic" panose="020B0502020202090204" pitchFamily="34" charset="0"/>
              </a:rPr>
              <a:t>A3-PS035-TC026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94EA41-F965-3119-6EA7-760AF80E539F}"/>
              </a:ext>
            </a:extLst>
          </p:cNvPr>
          <p:cNvSpPr txBox="1"/>
          <p:nvPr/>
        </p:nvSpPr>
        <p:spPr>
          <a:xfrm>
            <a:off x="2120900" y="1089025"/>
            <a:ext cx="1787669" cy="7540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500" b="1" dirty="0">
                <a:solidFill>
                  <a:schemeClr val="tx2"/>
                </a:solidFill>
                <a:latin typeface="Century Gothic" panose="020B0502020202090204" pitchFamily="34" charset="0"/>
              </a:rPr>
              <a:t>Thank You</a:t>
            </a:r>
          </a:p>
          <a:p>
            <a:endParaRPr lang="en-IN" dirty="0"/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</TotalTime>
  <Words>812</Words>
  <Application>Microsoft Office PowerPoint</Application>
  <PresentationFormat>Custom</PresentationFormat>
  <Paragraphs>117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Narrow</vt:lpstr>
      <vt:lpstr>Calibri</vt:lpstr>
      <vt:lpstr>Century Gothic</vt:lpstr>
      <vt:lpstr>Office Theme</vt:lpstr>
      <vt:lpstr>A3-PS035-TC026 Evidence-Based Operator Network Fault Localisation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 Flow Diagram</vt:lpstr>
      <vt:lpstr>PowerPoint Presentation</vt:lpstr>
      <vt:lpstr>Bibliography I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A3-PS001-TC001 - Android Ransomware-like Activity Early Warning in a Controlled Lab</dc:title>
  <dc:subject>Presentation Subject</dc:subject>
  <dc:creator>John Doe, personal-id@some.mail.com</dc:creator>
  <cp:keywords>the, presentation, keywords</cp:keywords>
  <cp:lastModifiedBy>yukthakiranv@outlook.com</cp:lastModifiedBy>
  <cp:revision>1</cp:revision>
  <cp:lastPrinted>2026-10-12T15:18:17Z</cp:lastPrinted>
  <dcterms:created xsi:type="dcterms:W3CDTF">2026-10-12T14:15:16Z</dcterms:created>
  <dcterms:modified xsi:type="dcterms:W3CDTF">2026-10-12T15:20:33Z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2026-10-05T00:00:00Z</vt:filetime>
  </property>
  <property fmtid="{D5CDD505-2E9C-101B-9397-08002B2CF9AE}" pid="4" name="Creator">
    <vt:lpwstr>LaTeX with Beamer class</vt:lpwstr>
  </property>
  <property fmtid="{D5CDD505-2E9C-101B-9397-08002B2CF9AE}" pid="5" name="LastSaved">
    <vt:filetime>2026-10-12T00:00:00Z</vt:filetime>
  </property>
  <property fmtid="{D5CDD505-2E9C-101B-9397-08002B2CF9AE}" pid="6" name="PTEX.Fullbanner">
    <vt:lpwstr>This is pdfTeX, Version 3.141592653-2.6-1.40.29 (TeX Live 2026) kpathsea version 6.4.2</vt:lpwstr>
  </property>
  <property fmtid="{D5CDD505-2E9C-101B-9397-08002B2CF9AE}" pid="7" name="Producer">
    <vt:lpwstr>pdfTeX-1.40.29</vt:lpwstr>
  </property>
</Properties>
</file>